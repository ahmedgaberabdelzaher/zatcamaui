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8" r:id="rId6"/>
    <p:sldId id="264" r:id="rId7"/>
    <p:sldId id="257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9A29"/>
    <a:srgbClr val="CD9B2B"/>
    <a:srgbClr val="065E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53" d="100"/>
          <a:sy n="53" d="100"/>
        </p:scale>
        <p:origin x="141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14580-8A36-492F-AEB0-A17422BF2FF8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DF2A8-0EDE-4B19-AD8F-8541356DB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393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14580-8A36-492F-AEB0-A17422BF2FF8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DF2A8-0EDE-4B19-AD8F-8541356DB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768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14580-8A36-492F-AEB0-A17422BF2FF8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DF2A8-0EDE-4B19-AD8F-8541356DB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176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14580-8A36-492F-AEB0-A17422BF2FF8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DF2A8-0EDE-4B19-AD8F-8541356DB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55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14580-8A36-492F-AEB0-A17422BF2FF8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DF2A8-0EDE-4B19-AD8F-8541356DB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861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14580-8A36-492F-AEB0-A17422BF2FF8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DF2A8-0EDE-4B19-AD8F-8541356DB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21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14580-8A36-492F-AEB0-A17422BF2FF8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DF2A8-0EDE-4B19-AD8F-8541356DB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095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14580-8A36-492F-AEB0-A17422BF2FF8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DF2A8-0EDE-4B19-AD8F-8541356DB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98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14580-8A36-492F-AEB0-A17422BF2FF8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DF2A8-0EDE-4B19-AD8F-8541356DB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40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14580-8A36-492F-AEB0-A17422BF2FF8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DF2A8-0EDE-4B19-AD8F-8541356DB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708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14580-8A36-492F-AEB0-A17422BF2FF8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DF2A8-0EDE-4B19-AD8F-8541356DB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04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14580-8A36-492F-AEB0-A17422BF2FF8}" type="datetimeFigureOut">
              <a:rPr lang="en-US" smtClean="0"/>
              <a:t>12/18/2019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DF2A8-0EDE-4B19-AD8F-8541356DB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496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2182662" y="6387528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65E49"/>
                </a:solidFill>
              </a:rPr>
              <a:t>Login </a:t>
            </a:r>
            <a:endParaRPr lang="en-US" sz="1200" dirty="0">
              <a:solidFill>
                <a:srgbClr val="065E49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03980" y="6389744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65E49"/>
                </a:solidFill>
              </a:rPr>
              <a:t>Dashboard</a:t>
            </a:r>
            <a:endParaRPr lang="en-US" sz="1200" dirty="0">
              <a:solidFill>
                <a:srgbClr val="065E49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323" y="825069"/>
            <a:ext cx="2560035" cy="554332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086" y="825069"/>
            <a:ext cx="2568869" cy="556245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739" y="825069"/>
            <a:ext cx="2560035" cy="5543329"/>
          </a:xfrm>
          <a:prstGeom prst="rect">
            <a:avLst/>
          </a:prstGeom>
        </p:spPr>
      </p:pic>
      <p:sp>
        <p:nvSpPr>
          <p:cNvPr id="17" name="Title 1"/>
          <p:cNvSpPr txBox="1">
            <a:spLocks/>
          </p:cNvSpPr>
          <p:nvPr/>
        </p:nvSpPr>
        <p:spPr>
          <a:xfrm>
            <a:off x="0" y="0"/>
            <a:ext cx="12192000" cy="682581"/>
          </a:xfrm>
          <a:prstGeom prst="rect">
            <a:avLst/>
          </a:prstGeom>
          <a:solidFill>
            <a:srgbClr val="065E49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GAZT E-Service App - </a:t>
            </a:r>
            <a:r>
              <a:rPr lang="en-US" sz="3200" dirty="0" smtClean="0">
                <a:solidFill>
                  <a:srgbClr val="D99A29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existing </a:t>
            </a:r>
            <a:r>
              <a:rPr lang="en-US" sz="3200" dirty="0" smtClean="0">
                <a:solidFill>
                  <a:srgbClr val="D99A29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design</a:t>
            </a:r>
            <a:endParaRPr lang="en-US" sz="3200" dirty="0">
              <a:solidFill>
                <a:srgbClr val="D99A29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21216" y="6387528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65E49"/>
                </a:solidFill>
              </a:rPr>
              <a:t>Profile</a:t>
            </a:r>
            <a:endParaRPr lang="en-US" sz="1200" dirty="0">
              <a:solidFill>
                <a:srgbClr val="065E49"/>
              </a:solidFill>
            </a:endParaRPr>
          </a:p>
        </p:txBody>
      </p:sp>
      <p:sp>
        <p:nvSpPr>
          <p:cNvPr id="8" name="Flowchart: Sequential Access Storage 7"/>
          <p:cNvSpPr/>
          <p:nvPr/>
        </p:nvSpPr>
        <p:spPr>
          <a:xfrm>
            <a:off x="106507" y="1114843"/>
            <a:ext cx="1422400" cy="1352074"/>
          </a:xfrm>
          <a:prstGeom prst="flowChartMagneticTape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100" dirty="0" smtClean="0"/>
              <a:t>Rendering of the green curve takes a considerable time</a:t>
            </a:r>
            <a:endParaRPr lang="en-IN" sz="1100" dirty="0"/>
          </a:p>
        </p:txBody>
      </p:sp>
      <p:sp>
        <p:nvSpPr>
          <p:cNvPr id="22" name="Flowchart: Sequential Access Storage 21"/>
          <p:cNvSpPr/>
          <p:nvPr/>
        </p:nvSpPr>
        <p:spPr>
          <a:xfrm>
            <a:off x="189419" y="2717981"/>
            <a:ext cx="1458907" cy="1420882"/>
          </a:xfrm>
          <a:prstGeom prst="flowChartMagneticTape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 smtClean="0"/>
              <a:t>Dashboard is not extendible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 smtClean="0"/>
              <a:t>Footer will overlap the additional tiles</a:t>
            </a:r>
            <a:endParaRPr lang="en-IN" sz="1050" dirty="0"/>
          </a:p>
        </p:txBody>
      </p:sp>
      <p:sp>
        <p:nvSpPr>
          <p:cNvPr id="23" name="Flowchart: Sequential Access Storage 22"/>
          <p:cNvSpPr/>
          <p:nvPr/>
        </p:nvSpPr>
        <p:spPr>
          <a:xfrm>
            <a:off x="236798" y="4389927"/>
            <a:ext cx="1458907" cy="1420882"/>
          </a:xfrm>
          <a:prstGeom prst="flowChartMagneticTape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 smtClean="0"/>
              <a:t>40-50% of the space is kind of wasted</a:t>
            </a:r>
            <a:endParaRPr lang="en-IN" sz="1050" dirty="0"/>
          </a:p>
        </p:txBody>
      </p:sp>
      <p:sp>
        <p:nvSpPr>
          <p:cNvPr id="28" name="Flowchart: Sequential Access Storage 27"/>
          <p:cNvSpPr/>
          <p:nvPr/>
        </p:nvSpPr>
        <p:spPr>
          <a:xfrm>
            <a:off x="10349558" y="1080439"/>
            <a:ext cx="1458907" cy="1420882"/>
          </a:xfrm>
          <a:prstGeom prst="flowChartMagneticTape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 smtClean="0"/>
              <a:t>Lot of white space and vertical spaces in controls</a:t>
            </a:r>
          </a:p>
        </p:txBody>
      </p:sp>
      <p:sp>
        <p:nvSpPr>
          <p:cNvPr id="29" name="Flowchart: Sequential Access Storage 28"/>
          <p:cNvSpPr/>
          <p:nvPr/>
        </p:nvSpPr>
        <p:spPr>
          <a:xfrm>
            <a:off x="10349558" y="2717981"/>
            <a:ext cx="1571732" cy="1530766"/>
          </a:xfrm>
          <a:prstGeom prst="flowChartMagneticTape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 smtClean="0"/>
              <a:t>Services like FORM 12 has many fields and will be cumbersome &amp; introduce scroll vertically</a:t>
            </a:r>
          </a:p>
        </p:txBody>
      </p:sp>
      <p:sp>
        <p:nvSpPr>
          <p:cNvPr id="30" name="Flowchart: Sequential Access Storage 29"/>
          <p:cNvSpPr/>
          <p:nvPr/>
        </p:nvSpPr>
        <p:spPr>
          <a:xfrm>
            <a:off x="10349558" y="4389927"/>
            <a:ext cx="1571732" cy="1530766"/>
          </a:xfrm>
          <a:prstGeom prst="flowChartMagneticTape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 smtClean="0">
                <a:solidFill>
                  <a:srgbClr val="D99A29"/>
                </a:solidFill>
              </a:rPr>
              <a:t>App visuals is not branded as a GAZT app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 smtClean="0">
                <a:solidFill>
                  <a:srgbClr val="D99A29"/>
                </a:solidFill>
              </a:rPr>
              <a:t>Not in sync with the guidelines</a:t>
            </a:r>
          </a:p>
        </p:txBody>
      </p:sp>
    </p:spTree>
    <p:extLst>
      <p:ext uri="{BB962C8B-B14F-4D97-AF65-F5344CB8AC3E}">
        <p14:creationId xmlns:p14="http://schemas.microsoft.com/office/powerpoint/2010/main" val="510252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364" y="682581"/>
            <a:ext cx="2668850" cy="577895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25121" y="6461533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65E49"/>
                </a:solidFill>
              </a:rPr>
              <a:t>TIN Status Expanded</a:t>
            </a:r>
            <a:endParaRPr lang="en-US" sz="1200" dirty="0">
              <a:solidFill>
                <a:srgbClr val="065E49"/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0"/>
            <a:ext cx="12192000" cy="682581"/>
          </a:xfrm>
          <a:prstGeom prst="rect">
            <a:avLst/>
          </a:prstGeom>
          <a:solidFill>
            <a:srgbClr val="065E49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GAZT E-Service App - </a:t>
            </a:r>
            <a:r>
              <a:rPr lang="en-US" sz="3200" dirty="0">
                <a:solidFill>
                  <a:srgbClr val="D99A29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</a:t>
            </a:r>
            <a:r>
              <a:rPr lang="en-US" sz="3200" dirty="0" smtClean="0">
                <a:solidFill>
                  <a:srgbClr val="D99A29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xisting design – AR mode</a:t>
            </a:r>
            <a:endParaRPr lang="en-US" sz="3200" dirty="0">
              <a:solidFill>
                <a:srgbClr val="D99A29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987" y="853010"/>
            <a:ext cx="2560966" cy="55453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90216" y="6461533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65E49"/>
                </a:solidFill>
              </a:rPr>
              <a:t>TIN Status</a:t>
            </a:r>
            <a:endParaRPr lang="en-US" sz="1200" dirty="0">
              <a:solidFill>
                <a:srgbClr val="065E4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447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2581"/>
          </a:xfrm>
          <a:solidFill>
            <a:srgbClr val="065E49"/>
          </a:solidFill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GAZT E-Service App - </a:t>
            </a:r>
            <a:r>
              <a:rPr lang="en-US" sz="3200" dirty="0">
                <a:solidFill>
                  <a:srgbClr val="D99A29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existing </a:t>
            </a:r>
            <a:r>
              <a:rPr lang="en-US" sz="3200" dirty="0" smtClean="0">
                <a:solidFill>
                  <a:srgbClr val="D99A29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design – EN mode</a:t>
            </a:r>
            <a:endParaRPr lang="en-US" sz="3200" dirty="0">
              <a:solidFill>
                <a:srgbClr val="D99A29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69450" y="6285279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65E49"/>
                </a:solidFill>
              </a:rPr>
              <a:t>Login </a:t>
            </a:r>
            <a:endParaRPr lang="en-US" sz="1200" dirty="0">
              <a:solidFill>
                <a:srgbClr val="065E49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31296" y="6270884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65E49"/>
                </a:solidFill>
              </a:rPr>
              <a:t>Dashboard</a:t>
            </a:r>
            <a:endParaRPr lang="en-US" sz="1200" dirty="0">
              <a:solidFill>
                <a:srgbClr val="065E49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39431" y="6270883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65E49"/>
                </a:solidFill>
              </a:rPr>
              <a:t>Profile</a:t>
            </a:r>
            <a:endParaRPr lang="en-US" sz="1200" dirty="0">
              <a:solidFill>
                <a:srgbClr val="065E49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041" y="682581"/>
            <a:ext cx="2513199" cy="544191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747" y="682581"/>
            <a:ext cx="2513199" cy="544191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368" y="682581"/>
            <a:ext cx="2513199" cy="544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36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2581"/>
          </a:xfrm>
          <a:solidFill>
            <a:srgbClr val="065E49"/>
          </a:solidFill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GAZT E-Service App - </a:t>
            </a:r>
            <a:r>
              <a:rPr lang="en-US" sz="3200" dirty="0">
                <a:solidFill>
                  <a:srgbClr val="D99A29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existing </a:t>
            </a:r>
            <a:r>
              <a:rPr lang="en-US" sz="3200" dirty="0" smtClean="0">
                <a:solidFill>
                  <a:srgbClr val="D99A29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design – EN mode</a:t>
            </a:r>
            <a:endParaRPr lang="en-US" sz="3200" dirty="0">
              <a:solidFill>
                <a:srgbClr val="D99A29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26322" y="6460247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65E49"/>
                </a:solidFill>
              </a:rPr>
              <a:t>TIN Status expanded</a:t>
            </a:r>
            <a:endParaRPr lang="en-US" sz="1200" dirty="0">
              <a:solidFill>
                <a:srgbClr val="065E49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397" y="727031"/>
            <a:ext cx="2627201" cy="56887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96661" y="6460247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65E49"/>
                </a:solidFill>
              </a:rPr>
              <a:t>TIN Status</a:t>
            </a:r>
            <a:endParaRPr lang="en-US" sz="1200" dirty="0">
              <a:solidFill>
                <a:srgbClr val="065E49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072" y="727031"/>
            <a:ext cx="2617669" cy="566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02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2581"/>
          </a:xfrm>
          <a:solidFill>
            <a:srgbClr val="065E49"/>
          </a:solidFill>
        </p:spPr>
        <p:txBody>
          <a:bodyPr anchor="ctr">
            <a:norm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GAZT E-Service App design</a:t>
            </a:r>
            <a:endParaRPr lang="en-US" sz="3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6700" y="682580"/>
            <a:ext cx="11633200" cy="496891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 smtClean="0">
                <a:solidFill>
                  <a:srgbClr val="065E49"/>
                </a:solidFill>
              </a:rPr>
              <a:t>It’s not about the beauty always – </a:t>
            </a:r>
            <a:r>
              <a:rPr lang="en-IN" sz="2200" b="1" dirty="0" smtClean="0">
                <a:solidFill>
                  <a:srgbClr val="D99A29"/>
                </a:solidFill>
              </a:rPr>
              <a:t>its about the purpose</a:t>
            </a:r>
            <a:r>
              <a:rPr lang="en-IN" sz="2200" b="1" dirty="0" smtClean="0">
                <a:solidFill>
                  <a:srgbClr val="CD9B2B"/>
                </a:solidFill>
              </a:rPr>
              <a:t> </a:t>
            </a:r>
            <a:r>
              <a:rPr lang="en-IN" sz="2200" dirty="0" smtClean="0">
                <a:solidFill>
                  <a:srgbClr val="065E49"/>
                </a:solidFill>
              </a:rPr>
              <a:t>of the mobile app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 smtClean="0">
                <a:solidFill>
                  <a:srgbClr val="065E49"/>
                </a:solidFill>
              </a:rPr>
              <a:t>What matters is user </a:t>
            </a:r>
            <a:r>
              <a:rPr lang="en-IN" sz="2200" b="1" dirty="0" smtClean="0">
                <a:solidFill>
                  <a:srgbClr val="D99A29"/>
                </a:solidFill>
              </a:rPr>
              <a:t>eXperience - usability &amp; application </a:t>
            </a:r>
            <a:r>
              <a:rPr lang="en-IN" sz="2200" b="1" dirty="0" smtClean="0">
                <a:solidFill>
                  <a:srgbClr val="D99A29"/>
                </a:solidFill>
              </a:rPr>
              <a:t>performance</a:t>
            </a:r>
            <a:endParaRPr lang="en-IN" sz="2200" b="1" dirty="0" smtClean="0">
              <a:solidFill>
                <a:srgbClr val="D99A29"/>
              </a:solidFill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 smtClean="0">
                <a:solidFill>
                  <a:srgbClr val="065E49"/>
                </a:solidFill>
              </a:rPr>
              <a:t>Timely screen rendering is the </a:t>
            </a:r>
            <a:r>
              <a:rPr lang="en-IN" sz="2200" dirty="0" smtClean="0">
                <a:solidFill>
                  <a:srgbClr val="065E49"/>
                </a:solidFill>
              </a:rPr>
              <a:t>key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 smtClean="0">
                <a:solidFill>
                  <a:srgbClr val="065E49"/>
                </a:solidFill>
              </a:rPr>
              <a:t>The </a:t>
            </a:r>
            <a:r>
              <a:rPr lang="en-IN" sz="2200" b="1" dirty="0" smtClean="0">
                <a:solidFill>
                  <a:srgbClr val="D99A29"/>
                </a:solidFill>
              </a:rPr>
              <a:t>app should be modular</a:t>
            </a:r>
            <a:r>
              <a:rPr lang="en-IN" sz="2200" dirty="0" smtClean="0">
                <a:solidFill>
                  <a:srgbClr val="065E49"/>
                </a:solidFill>
              </a:rPr>
              <a:t> and </a:t>
            </a:r>
            <a:r>
              <a:rPr lang="en-IN" sz="2200" b="1" dirty="0" smtClean="0">
                <a:solidFill>
                  <a:srgbClr val="065E49"/>
                </a:solidFill>
              </a:rPr>
              <a:t>easy to enable / disable the feature</a:t>
            </a:r>
            <a:endParaRPr lang="en-IN" sz="2200" b="1" dirty="0" smtClean="0">
              <a:solidFill>
                <a:srgbClr val="065E49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 smtClean="0">
                <a:solidFill>
                  <a:srgbClr val="D99A29"/>
                </a:solidFill>
              </a:rPr>
              <a:t>GAZT eService's App is mostly a form based </a:t>
            </a:r>
            <a:r>
              <a:rPr lang="en-IN" sz="2200" dirty="0" smtClean="0">
                <a:solidFill>
                  <a:srgbClr val="065E49"/>
                </a:solidFill>
              </a:rPr>
              <a:t>application 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 smtClean="0">
                <a:solidFill>
                  <a:srgbClr val="065E49"/>
                </a:solidFill>
              </a:rPr>
              <a:t>Hence, </a:t>
            </a:r>
            <a:r>
              <a:rPr lang="en-IN" sz="2200" b="1" dirty="0" smtClean="0">
                <a:solidFill>
                  <a:srgbClr val="D99A29"/>
                </a:solidFill>
              </a:rPr>
              <a:t>maximum space utilisation is the key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 smtClean="0">
                <a:solidFill>
                  <a:srgbClr val="065E49"/>
                </a:solidFill>
              </a:rPr>
              <a:t>The user should get </a:t>
            </a:r>
            <a:r>
              <a:rPr lang="en-IN" sz="2200" b="1" dirty="0" smtClean="0">
                <a:solidFill>
                  <a:srgbClr val="D99A29"/>
                </a:solidFill>
              </a:rPr>
              <a:t>seamless experience between web portal and the mobile app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 smtClean="0">
                <a:solidFill>
                  <a:srgbClr val="065E49"/>
                </a:solidFill>
              </a:rPr>
              <a:t>The </a:t>
            </a:r>
            <a:r>
              <a:rPr lang="en-IN" sz="2200" b="1" dirty="0" smtClean="0">
                <a:solidFill>
                  <a:srgbClr val="D99A29"/>
                </a:solidFill>
              </a:rPr>
              <a:t>iconography and fonts and overall theme</a:t>
            </a:r>
            <a:r>
              <a:rPr lang="en-IN" sz="2200" dirty="0" smtClean="0">
                <a:solidFill>
                  <a:srgbClr val="D99A29"/>
                </a:solidFill>
              </a:rPr>
              <a:t> must match the </a:t>
            </a:r>
            <a:r>
              <a:rPr lang="en-IN" sz="2200" b="1" dirty="0" smtClean="0">
                <a:solidFill>
                  <a:srgbClr val="D99A29"/>
                </a:solidFill>
              </a:rPr>
              <a:t>GAZT branding guidelines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sz="2200" dirty="0">
              <a:solidFill>
                <a:srgbClr val="D99A29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925" y="5651499"/>
            <a:ext cx="1638130" cy="10541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168" y="5448299"/>
            <a:ext cx="1650832" cy="140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2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731093" y="6556331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65E49"/>
                </a:solidFill>
              </a:rPr>
              <a:t>Proposed Login </a:t>
            </a:r>
            <a:endParaRPr lang="en-US" sz="1200" dirty="0">
              <a:solidFill>
                <a:srgbClr val="065E49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63714" y="6556332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65E49"/>
                </a:solidFill>
              </a:rPr>
              <a:t>Proposed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6335" y="6578494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65E49"/>
                </a:solidFill>
              </a:rPr>
              <a:t>Proposed Profile</a:t>
            </a: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0" y="0"/>
            <a:ext cx="12192000" cy="682581"/>
          </a:xfrm>
          <a:prstGeom prst="rect">
            <a:avLst/>
          </a:prstGeom>
          <a:solidFill>
            <a:srgbClr val="065E49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GAZT E-Service App design - </a:t>
            </a:r>
            <a:r>
              <a:rPr lang="en-US" sz="3200" dirty="0" smtClean="0">
                <a:solidFill>
                  <a:srgbClr val="D99A29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proposed – EN mode</a:t>
            </a:r>
            <a:endParaRPr lang="en-US" sz="3200" dirty="0">
              <a:solidFill>
                <a:srgbClr val="D99A29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349" y="720469"/>
            <a:ext cx="2804860" cy="583586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68" y="720468"/>
            <a:ext cx="2804860" cy="583586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4744" y="720468"/>
            <a:ext cx="2800828" cy="582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095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6141077" y="6525357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65E49"/>
                </a:solidFill>
              </a:rPr>
              <a:t>Proposed TIN </a:t>
            </a:r>
            <a:r>
              <a:rPr lang="en-US" sz="1200" dirty="0" smtClean="0">
                <a:solidFill>
                  <a:srgbClr val="065E49"/>
                </a:solidFill>
              </a:rPr>
              <a:t>Status Expanded</a:t>
            </a:r>
            <a:endParaRPr lang="en-US" sz="1200" dirty="0">
              <a:solidFill>
                <a:srgbClr val="065E49"/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0"/>
            <a:ext cx="12192000" cy="682581"/>
          </a:xfrm>
          <a:prstGeom prst="rect">
            <a:avLst/>
          </a:prstGeom>
          <a:solidFill>
            <a:srgbClr val="065E49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GAZT E-Service App design - </a:t>
            </a:r>
            <a:r>
              <a:rPr lang="en-US" sz="3200" dirty="0" smtClean="0">
                <a:solidFill>
                  <a:srgbClr val="D99A29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proposed</a:t>
            </a:r>
            <a:r>
              <a:rPr lang="en-US" sz="3200" dirty="0">
                <a:solidFill>
                  <a:srgbClr val="D99A29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3200" dirty="0" smtClean="0">
                <a:solidFill>
                  <a:srgbClr val="D99A29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- EN </a:t>
            </a:r>
            <a:r>
              <a:rPr lang="en-US" sz="3200" dirty="0">
                <a:solidFill>
                  <a:srgbClr val="D99A29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mode</a:t>
            </a:r>
            <a:r>
              <a:rPr lang="en-US" sz="3200" dirty="0" smtClean="0">
                <a:solidFill>
                  <a:srgbClr val="D99A29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en-US" sz="3200" dirty="0">
              <a:solidFill>
                <a:srgbClr val="D99A29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49171" y="6525358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65E49"/>
                </a:solidFill>
              </a:rPr>
              <a:t>Proposed TIN </a:t>
            </a:r>
            <a:r>
              <a:rPr lang="en-US" sz="1200" dirty="0" smtClean="0">
                <a:solidFill>
                  <a:srgbClr val="065E49"/>
                </a:solidFill>
              </a:rPr>
              <a:t>Status</a:t>
            </a:r>
            <a:endParaRPr lang="en-US" sz="1200" dirty="0">
              <a:solidFill>
                <a:srgbClr val="065E49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154" y="731520"/>
            <a:ext cx="2795114" cy="581558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286" y="731520"/>
            <a:ext cx="2784662" cy="579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79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073" y="749808"/>
            <a:ext cx="2808775" cy="58440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1093" y="6564417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65E49"/>
                </a:solidFill>
              </a:rPr>
              <a:t>Proposed Login </a:t>
            </a:r>
            <a:endParaRPr lang="en-US" sz="1200" dirty="0">
              <a:solidFill>
                <a:srgbClr val="065E49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20787" y="6593816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65E49"/>
                </a:solidFill>
              </a:rPr>
              <a:t>Proposed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6335" y="6556325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65E49"/>
                </a:solidFill>
              </a:rPr>
              <a:t>Proposed Profile</a:t>
            </a: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0" y="0"/>
            <a:ext cx="12192000" cy="682581"/>
          </a:xfrm>
          <a:prstGeom prst="rect">
            <a:avLst/>
          </a:prstGeom>
          <a:solidFill>
            <a:srgbClr val="065E49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GAZT E-Service App design - </a:t>
            </a:r>
            <a:r>
              <a:rPr lang="en-US" sz="3200" dirty="0" smtClean="0">
                <a:solidFill>
                  <a:srgbClr val="D99A29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proposed – AR mode</a:t>
            </a:r>
            <a:endParaRPr lang="en-US" sz="3200" dirty="0">
              <a:solidFill>
                <a:srgbClr val="D99A29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578" y="749808"/>
            <a:ext cx="2803904" cy="58338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439" y="749808"/>
            <a:ext cx="2794645" cy="581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426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6217390" y="6583681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65E49"/>
                </a:solidFill>
              </a:rPr>
              <a:t>Proposed TIN </a:t>
            </a:r>
            <a:r>
              <a:rPr lang="en-US" sz="1200" dirty="0" smtClean="0">
                <a:solidFill>
                  <a:srgbClr val="065E49"/>
                </a:solidFill>
              </a:rPr>
              <a:t>Status Expanded</a:t>
            </a:r>
            <a:endParaRPr lang="en-US" sz="1200" dirty="0">
              <a:solidFill>
                <a:srgbClr val="065E49"/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0"/>
            <a:ext cx="12192000" cy="682581"/>
          </a:xfrm>
          <a:prstGeom prst="rect">
            <a:avLst/>
          </a:prstGeom>
          <a:solidFill>
            <a:srgbClr val="065E49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GAZT E-Service App design - </a:t>
            </a:r>
            <a:r>
              <a:rPr lang="en-US" sz="3200" dirty="0">
                <a:solidFill>
                  <a:srgbClr val="D99A29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proposed </a:t>
            </a:r>
            <a:r>
              <a:rPr lang="en-US" sz="3200" dirty="0" smtClean="0">
                <a:solidFill>
                  <a:srgbClr val="D99A29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AR mode</a:t>
            </a:r>
            <a:endParaRPr lang="en-US" sz="3200" dirty="0">
              <a:solidFill>
                <a:srgbClr val="D99A29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65778" y="6544345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65E49"/>
                </a:solidFill>
              </a:rPr>
              <a:t>Proposed TIN </a:t>
            </a:r>
            <a:r>
              <a:rPr lang="en-US" sz="1200" dirty="0" smtClean="0">
                <a:solidFill>
                  <a:srgbClr val="065E49"/>
                </a:solidFill>
              </a:rPr>
              <a:t>Status</a:t>
            </a:r>
            <a:endParaRPr lang="en-US" sz="1200" dirty="0">
              <a:solidFill>
                <a:srgbClr val="065E49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366" y="765777"/>
            <a:ext cx="2803904" cy="58338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401" y="768096"/>
            <a:ext cx="2802789" cy="583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376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530271" y="6567064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65E49"/>
                </a:solidFill>
              </a:rPr>
              <a:t>Proposed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1647" y="6567064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65E49"/>
                </a:solidFill>
              </a:rPr>
              <a:t>Proposed Profile</a:t>
            </a: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0" y="0"/>
            <a:ext cx="12192000" cy="682581"/>
          </a:xfrm>
          <a:prstGeom prst="rect">
            <a:avLst/>
          </a:prstGeom>
          <a:solidFill>
            <a:srgbClr val="065E49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GAZT E-Service App design </a:t>
            </a:r>
            <a:r>
              <a:rPr lang="en-US" sz="3200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– </a:t>
            </a:r>
            <a:r>
              <a:rPr lang="en-US" sz="3200" dirty="0" smtClean="0">
                <a:solidFill>
                  <a:srgbClr val="D99A29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proposed &amp; existing design comparison</a:t>
            </a:r>
            <a:endParaRPr lang="en-US" sz="3200" dirty="0">
              <a:solidFill>
                <a:srgbClr val="D99A29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81" y="742632"/>
            <a:ext cx="2804860" cy="583586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056" y="770146"/>
            <a:ext cx="2800828" cy="582747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7" b="2568"/>
          <a:stretch/>
        </p:blipFill>
        <p:spPr>
          <a:xfrm>
            <a:off x="6172699" y="697174"/>
            <a:ext cx="2892712" cy="58813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9" b="2232"/>
          <a:stretch/>
        </p:blipFill>
        <p:spPr>
          <a:xfrm>
            <a:off x="9160527" y="697174"/>
            <a:ext cx="2876524" cy="58685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71180" y="6567064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65E49"/>
                </a:solidFill>
              </a:rPr>
              <a:t>Existing Dashboard</a:t>
            </a:r>
            <a:endParaRPr lang="en-US" sz="1200" dirty="0">
              <a:solidFill>
                <a:srgbClr val="065E49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63892" y="6567064"/>
            <a:ext cx="2191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065E49"/>
                </a:solidFill>
              </a:rPr>
              <a:t>Existing Profile</a:t>
            </a:r>
            <a:endParaRPr lang="en-US" sz="1200" dirty="0">
              <a:solidFill>
                <a:srgbClr val="065E4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85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EE96DA4A27EE4399893CE6BEBE603A" ma:contentTypeVersion="6" ma:contentTypeDescription="Create a new document." ma:contentTypeScope="" ma:versionID="361ae9a89b84c593d67b61bf5444dc2f">
  <xsd:schema xmlns:xsd="http://www.w3.org/2001/XMLSchema" xmlns:xs="http://www.w3.org/2001/XMLSchema" xmlns:p="http://schemas.microsoft.com/office/2006/metadata/properties" xmlns:ns2="fc8d949b-579d-42a5-9ac7-7aca89f9e679" targetNamespace="http://schemas.microsoft.com/office/2006/metadata/properties" ma:root="true" ma:fieldsID="020e89d6c75915b958f92ace98b04445" ns2:_="">
    <xsd:import namespace="fc8d949b-579d-42a5-9ac7-7aca89f9e6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8d949b-579d-42a5-9ac7-7aca89f9e6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0F5C793-9BAC-4758-B858-3CE9AFC1BD3C}"/>
</file>

<file path=customXml/itemProps2.xml><?xml version="1.0" encoding="utf-8"?>
<ds:datastoreItem xmlns:ds="http://schemas.openxmlformats.org/officeDocument/2006/customXml" ds:itemID="{BB316108-0916-4D69-BFC0-AC024A276880}"/>
</file>

<file path=customXml/itemProps3.xml><?xml version="1.0" encoding="utf-8"?>
<ds:datastoreItem xmlns:ds="http://schemas.openxmlformats.org/officeDocument/2006/customXml" ds:itemID="{45199CE5-02F6-4F55-BC59-982D338D5892}"/>
</file>

<file path=docProps/app.xml><?xml version="1.0" encoding="utf-8"?>
<Properties xmlns="http://schemas.openxmlformats.org/officeDocument/2006/extended-properties" xmlns:vt="http://schemas.openxmlformats.org/officeDocument/2006/docPropsVTypes">
  <TotalTime>999</TotalTime>
  <Words>286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Segoe UI Light</vt:lpstr>
      <vt:lpstr>Wingdings</vt:lpstr>
      <vt:lpstr>Office Theme</vt:lpstr>
      <vt:lpstr>PowerPoint Presentation</vt:lpstr>
      <vt:lpstr>PowerPoint Presentation</vt:lpstr>
      <vt:lpstr>GAZT E-Service App - existing design – EN mode</vt:lpstr>
      <vt:lpstr>GAZT E-Service App - existing design – EN mode</vt:lpstr>
      <vt:lpstr>GAZT E-Service App design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Icon for Review</dc:title>
  <dc:creator>Nikhil Bute</dc:creator>
  <cp:lastModifiedBy>Parag Bihade</cp:lastModifiedBy>
  <cp:revision>30</cp:revision>
  <dcterms:created xsi:type="dcterms:W3CDTF">2019-10-15T08:43:07Z</dcterms:created>
  <dcterms:modified xsi:type="dcterms:W3CDTF">2019-12-18T12:51:30Z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0x01010067EE96DA4A27EE4399893CE6BEBE603A</vt:lpwstr>
  </property>
</Properties>
</file>